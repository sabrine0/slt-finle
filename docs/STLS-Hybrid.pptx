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547"/>
                </a:solidFill>
                <a:latin typeface="Calibri"/>
              </a:rPr>
              <a:t>STLS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A6470"/>
                </a:solidFill>
                <a:latin typeface="Calibri"/>
              </a:rPr>
              <a:t>SMART TRAFFIC LIGHT SYSTEM · ROYAUME DU MAROC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3F7F1"/>
                </a:solidFill>
                <a:latin typeface="Calibri"/>
              </a:rPr>
              <a:t>Traffic signal engineering,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3F7F1"/>
                </a:solidFill>
                <a:latin typeface="Calibri"/>
              </a:rPr>
              <a:t>control, and runtime — in one product.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29E"/>
                </a:solidFill>
                <a:latin typeface="Calibri"/>
              </a:rPr>
              <a:t>A web dashboard, a desktop engineering + control tool, and a field controller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280160" cy="457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0789920" y="731520"/>
            <a:ext cx="640080" cy="640080"/>
          </a:xfrm>
          <a:prstGeom prst="diamond">
            <a:avLst/>
          </a:prstGeom>
          <a:solidFill>
            <a:srgbClr val="14100A"/>
          </a:solidFill>
          <a:ln w="15875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0"/>
                </a:solidFill>
                <a:latin typeface="Calibri"/>
              </a:rPr>
              <a:t>Internal project deck · Engineering +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What this deck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640080" cy="457200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B547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7627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Product &amp; positioning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29E"/>
                </a:solidFill>
                <a:latin typeface="Calibri"/>
              </a:rPr>
              <a:t>Why STLS exists and the three products that ship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16352"/>
            <a:ext cx="640080" cy="457200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B547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98064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Architecture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29E"/>
                </a:solidFill>
                <a:latin typeface="Calibri"/>
              </a:rPr>
              <a:t>Operations dashboard, Desktop Studio, Controller runtime.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38144"/>
            <a:ext cx="640080" cy="457200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B547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19856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Engineering mode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29E"/>
                </a:solidFill>
                <a:latin typeface="Calibri"/>
              </a:rPr>
              <a:t>Configure an intersection end-to-end: identity, approaches, signal groups, phases, detectors, controller, live schematic.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59935"/>
            <a:ext cx="640080" cy="457200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B547"/>
                </a:solidFill>
                <a:latin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41648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Control mode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29E"/>
                </a:solidFill>
                <a:latin typeface="Calibri"/>
              </a:rPr>
              <a:t>SEA/TOPS-style operator console — diagram, timing strip, piano keys, keyboard shortcuts.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81728"/>
            <a:ext cx="640080" cy="457200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B547"/>
                </a:solidFill>
                <a:latin typeface="Consola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634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Theme architecture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29E"/>
                </a:solidFill>
                <a:latin typeface="Calibri"/>
              </a:rPr>
              <a:t>Dark and light mode built on semantic tokens.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03520"/>
            <a:ext cx="640080" cy="457200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B547"/>
                </a:solidFill>
                <a:latin typeface="Consolas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8523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Stack &amp; status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29E"/>
                </a:solidFill>
                <a:latin typeface="Calibri"/>
              </a:rPr>
              <a:t>Technology choices and what comes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PRODUCT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What STLS is — and what it isn't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577840" cy="4206240"/>
          </a:xfrm>
          <a:prstGeom prst="roundRect">
            <a:avLst>
              <a:gd name="adj" fmla="val 3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577840" cy="4206240"/>
          </a:xfrm>
          <a:prstGeom prst="roundRect">
            <a:avLst>
              <a:gd name="adj" fmla="val 3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8EAC2"/>
                </a:solidFill>
                <a:latin typeface="Calibri"/>
              </a:rPr>
              <a:t>STLS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9A9A"/>
                </a:solidFill>
                <a:latin typeface="Calibri"/>
              </a:rPr>
              <a:t>STLS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52120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Traffic-signal engineering software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Configure phases, stages, signal groups, conflict matrix.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An operator control room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Play traffic lights like a piano during incidents and peaks.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A field controller runtime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Run the intersection 24/7 on the device in the cabinet.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52120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Not an AI research dashboard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No ML panels, no black-box decisions.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Not a city analytics platform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No KPIs, no long-tail charts. Operators first.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Not a replacement for SCADA monitoring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The Operations dashboard is for supervision, not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Three products, one system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Each surface is focused on the audience it serves.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657600" cy="425196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3657600" cy="5486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F7F1"/>
                </a:solidFill>
                <a:latin typeface="Calibri"/>
              </a:rPr>
              <a:t>Operations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29E"/>
                </a:solidFill>
                <a:latin typeface="Calibri"/>
              </a:rPr>
              <a:t>Web dashboard for police, district supervisors, and C2.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2377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Live map &amp; alerts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Hardware health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Read-mostly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657600" cy="425196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657600" cy="5486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F7F1"/>
                </a:solidFill>
                <a:latin typeface="Calibri"/>
              </a:rPr>
              <a:t>Studio · Desktop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29E"/>
                </a:solidFill>
                <a:latin typeface="Calibri"/>
              </a:rPr>
              <a:t>Engineering + Control tool — SEA/TOPS style.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74720"/>
            <a:ext cx="3108960" cy="2377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Intersection editor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Apply / Pull to runtime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Piano-key operator console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103120"/>
            <a:ext cx="3657600" cy="425196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2103120"/>
            <a:ext cx="3657600" cy="5486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3317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F7F1"/>
                </a:solidFill>
                <a:latin typeface="Calibri"/>
              </a:rPr>
              <a:t>Controller Runtime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29E"/>
                </a:solidFill>
                <a:latin typeface="Calibri"/>
              </a:rPr>
              <a:t>Standalone Go process that runs in the field cabinet.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474720"/>
            <a:ext cx="3108960" cy="2377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Cycle simulator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Socket.IO live state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Offline fall-back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OPERATIONS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City-wide supervision, not control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Read-mostly view for police, district supervisors, and the command centre.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operation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Live map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Morocco-wide intersection state.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Alert feed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Hardware and operational alerts in one stream.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Scenario runner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Trigger normal / peak / emergency demo scenarios.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Strict supervision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Commands that change traffic stay in Studio.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STUDIO · SPLASH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One intersection at a time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SEA/TOPS-style desktop — project tree on the left, workspace in the centre, control rail on the right.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studio-splas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Project explorer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Country → region → city → intersection.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Mode tabs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Engineering · Control · Simulation.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Session memory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Reopens the last intersection you worked on.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No dashboard noise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Every surface is engineer- or operator-focused.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Static engineering view of the intersection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Multi-bearing, multi-lane, with turning movements and a per-phase phase panel.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engineering-diagram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8 cardinal bearings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N, NE, E, SE, S, SW, W, NW.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Real lane geometry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Lane count per approach drives road width.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Turning arrows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Left / straight / right per signal group.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Conflict overlay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Toggle to see all incompatibility pairs at 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Jurisdiction, address, geometry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engineering-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Code + controller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Fixed identifiers bound to the field cabinet.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Name &amp; district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Human labels — what operators see.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Geo anchor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Lat / Lng used by the Operations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Cardinal approaches and lane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engineering-appr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Bearing selector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Pick any of the 8 cardinal directions.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Lanes per approach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Drives the road width on the diagram.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Inline editing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Click a row to edit — no modal juggling.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SIGNAL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Signal groups drive movements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Each group binds to an approach and owns a set of aspects (R / Y / G + arrows + pedestrian).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engineering-signal-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Approach binding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Needed so phases can reference groups by direction.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Aspect toggles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Coloured chips per supported signal state.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Used in phases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Which groups go green together per phase.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PHASES &amp;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Phases, stages, and the conflict matrix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A phase declares green groups; stages order phases; the matrix prevents dangerous co-greens.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-engineering-phases-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Green selector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Toggle which signal groups go green per phase.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Timings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Min-green / yellow / red-clearance per phase.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Stage ordering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Stages run in order — the cycle.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Matrix guard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Surfaces violations in-page — no silent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DETECTORS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Detectors mapped to controller 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-engineering-det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Per-approach mapping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Each detector belongs to an approach.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Channel + kind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Loop, radar, video, piezo, magnetometer.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Feeds the runtime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Upstream data for adaptive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Controller link summary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Read-only summary bound to the field cabinet.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-engineering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Link state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Online · degraded · offline, at a glance.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Firmware &amp; uptime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Hardware telemetry from the runtime.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Battery backed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Resilience marker surfaced up-front.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Apply / Pull · the runtime bridge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Push the Studio config to the runtime — or pull what the runtime actually has. Both are audited.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engineering-live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Apply to runtime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Studio → backend → in-memory simulator.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Pull from runtime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Reload what the controller currently enforces.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Live schematic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Real-time aspect + cycle ring from backend.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Event log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Every transition recorded in the side panel.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ENGINEERING · CONFLICTS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Every incompatible movement, in one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-engineering-conflicts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All-pairs arcs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Dashed red arcs between conflicting movements.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Hover focus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Hover a single movement to see only its conflicts.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No surprises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Caught at design time, never at runtime.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CONTROL MODE · 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Play traffic lights like a piano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Live diagram · Timing strip · Emergency banners · Shortcut-driven piano keys.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1132027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1132027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-control-mode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24712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62456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92224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1991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59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81527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1295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41063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Space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2583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2351" y="6446520"/>
            <a:ext cx="384048" cy="292608"/>
          </a:xfrm>
          <a:prstGeom prst="roundRect">
            <a:avLst>
              <a:gd name="adj" fmla="val 20000"/>
            </a:avLst>
          </a:prstGeom>
          <a:solidFill>
            <a:srgbClr val="0E1318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8DDE3"/>
                </a:solidFill>
                <a:latin typeface="Consolas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CONTROL MODE · CONFLICTS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Operators can see conflicts live too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Same overlay as Engineering — available as an optional toggle in the operator console.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-control-mode-confl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One-click toggle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Never obstructs the default clean view.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Context when it matters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Verify before forcing a direction or phase.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CONTROL MODE · LIGHT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Readable in a bright control room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Engineering-CAD aesthetic — white asphalt, dark lane markings.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7754112" cy="418795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775411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-control-mode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68096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2103120"/>
            <a:ext cx="33832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Industrial contrast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No candy colours; stays serious.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Same semantics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Every signal colour keeps its meaning.</a:t>
            </a:r>
          </a:p>
          <a:p>
            <a:pPr algn="l"/>
            <a:r>
              <a:rPr sz="1300" b="1">
                <a:solidFill>
                  <a:srgbClr val="FFB547"/>
                </a:solidFill>
                <a:latin typeface="Calibri"/>
              </a:rPr>
              <a:t>▸  </a:t>
            </a:r>
            <a:r>
              <a:rPr sz="1300" b="1">
                <a:solidFill>
                  <a:srgbClr val="F3F7F1"/>
                </a:solidFill>
                <a:latin typeface="Calibri"/>
              </a:rPr>
              <a:t>Persisted preference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D8DDE3"/>
                </a:solidFill>
                <a:latin typeface="Calibri"/>
              </a:rPr>
              <a:t>     Theme is remembered per operator.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THEME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Dark and light, built on semantic tokens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Calibri"/>
              </a:rPr>
              <a:t>One palette, two themes — scoped to the Studio so the Operations dashboard stays fixed-dark.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2066543"/>
            <a:ext cx="5559552" cy="313639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" y="2066543"/>
            <a:ext cx="555955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engineering-diagram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486400" cy="3063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35624" y="2066543"/>
            <a:ext cx="5650992" cy="3136392"/>
          </a:xfrm>
          <a:prstGeom prst="rect">
            <a:avLst/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35624" y="2066543"/>
            <a:ext cx="5650992" cy="2743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5-engineering-diagram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03120"/>
            <a:ext cx="5577840" cy="30632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5532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50709"/>
          </a:solidFill>
          <a:ln w="6350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550407"/>
            <a:ext cx="21031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DDE3"/>
                </a:solidFill>
                <a:latin typeface="Consolas"/>
              </a:rPr>
              <a:t>--stls-surface-0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5532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0D10"/>
          </a:solidFill>
          <a:ln w="6350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5550407"/>
            <a:ext cx="21031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DDE3"/>
                </a:solidFill>
                <a:latin typeface="Consolas"/>
              </a:rPr>
              <a:t>--stls-surface-1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5532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FFB547"/>
          </a:solidFill>
          <a:ln w="6350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5550407"/>
            <a:ext cx="21031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DDE3"/>
                </a:solidFill>
                <a:latin typeface="Consolas"/>
              </a:rPr>
              <a:t>--stls-accent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5532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39D98A"/>
          </a:solidFill>
          <a:ln w="6350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5550407"/>
            <a:ext cx="21031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DDE3"/>
                </a:solidFill>
                <a:latin typeface="Consolas"/>
              </a:rPr>
              <a:t>--stls-sig-green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5532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FF5F5F"/>
          </a:solidFill>
          <a:ln w="6350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5550407"/>
            <a:ext cx="21031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DDE3"/>
                </a:solidFill>
                <a:latin typeface="Consolas"/>
              </a:rPr>
              <a:t>--stls-sig-red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A pragmatic, typed toolchain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743200" cy="457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Next.js 16 (Turbopack)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React 19 + TypeScript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Tailwind v4 semantic tokens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Socket.IO client for live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0312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103120"/>
            <a:ext cx="2743200" cy="457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NestJS + TypeORM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PostgreSQL (JSONB configs)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Socket.IO gateway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HMAC-signed command channel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0312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03120"/>
            <a:ext cx="2743200" cy="457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240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Electron wrapper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Loads /studio URL only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Native-feel menus &amp; status bar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Persists last-opened intersection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10312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103120"/>
            <a:ext cx="2743200" cy="457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240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7F1"/>
                </a:solidFill>
                <a:latin typeface="Calibri"/>
              </a:rPr>
              <a:t>Controller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7889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Standalone Go process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1-Hz cycle simulator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Offline fall-back cache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B547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Ticks the signal heads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347472" cy="347472"/>
          </a:xfrm>
          <a:prstGeom prst="rect">
            <a:avLst/>
          </a:prstGeom>
          <a:solidFill>
            <a:srgbClr val="14100A"/>
          </a:solidFill>
          <a:ln w="1270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B54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3F7F1"/>
                </a:solidFill>
                <a:latin typeface="Calibri"/>
              </a:rPr>
              <a:t>STLS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547"/>
                </a:solidFill>
                <a:latin typeface="Calibri"/>
              </a:rPr>
              <a:t>STATUS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24712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3F7F1"/>
                </a:solidFill>
                <a:latin typeface="Calibri"/>
              </a:rPr>
              <a:t>Where we are, where we're heading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82296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8EAC2"/>
                </a:solidFill>
                <a:latin typeface="Calibri"/>
              </a:rPr>
              <a:t>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A8EAC2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Operations dashboard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A8EAC2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Studio engineering mode end-to-end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A8EAC2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Apply / Pull runtime config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A8EAC2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Control mode with piano + shortcuts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A8EAC2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Full dark + light theme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089"/>
                </a:solidFill>
                <a:latin typeface="Calibri"/>
              </a:rPr>
              <a:t>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D089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Coordinated corridors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FFD089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Scenario simulator (dry-run)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FFD089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Controller offline sync polish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10312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0A0D10"/>
          </a:solidFill>
          <a:ln w="9525">
            <a:solidFill>
              <a:srgbClr val="1A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28600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ED2EF"/>
                </a:solidFill>
                <a:latin typeface="Calibri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346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8ED2EF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Conflict-pair import from CAD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8ED2EF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Plan export to field controllers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8ED2EF"/>
                </a:solidFill>
                <a:latin typeface="Calibri"/>
              </a:rPr>
              <a:t>•  </a:t>
            </a:r>
            <a:r>
              <a:rPr sz="1100">
                <a:solidFill>
                  <a:srgbClr val="D8DDE3"/>
                </a:solidFill>
                <a:latin typeface="Calibri"/>
              </a:rPr>
              <a:t>Multi-operator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>
                <a:solidFill>
                  <a:srgbClr val="5A6470"/>
                </a:solidFill>
                <a:latin typeface="Calibri"/>
              </a:rPr>
              <a:t>STLS Hybrid · Smart Traffic Light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0"/>
                </a:solidFill>
                <a:latin typeface="Consolas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3F7F1"/>
                </a:solidFill>
                <a:latin typeface="Calibri"/>
              </a:rPr>
              <a:t>STLS Hybrid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8A929E"/>
                </a:solidFill>
                <a:latin typeface="Calibri"/>
              </a:rPr>
              <a:t>Engineering · Control · Runtime — one coherent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1280160" cy="457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470"/>
                </a:solidFill>
                <a:latin typeface="Calibri"/>
              </a:rPr>
              <a:t>Thank you ·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